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" dt="2026-09-25T00:08:03.355"/>
    <p1510:client id="{63B49141-7B4B-0552-5881-E5374556303C}" v="8" dt="2026-09-24T23:50:24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1638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 LUCY PALACIOS SALCEDO" userId="79dcf533be6325ef" providerId="Windows Live" clId="Web-{00000000-0000-0000-0000-000000000000}"/>
    <pc:docChg chg="modSld">
      <pc:chgData name="SUSAN LUCY PALACIOS SALCEDO" userId="79dcf533be6325ef" providerId="Windows Live" clId="Web-{00000000-0000-0000-0000-000000000000}" dt="2026-09-25T00:08:03.355" v="80"/>
      <pc:docMkLst>
        <pc:docMk/>
      </pc:docMkLst>
      <pc:sldChg chg="addSp delSp modSp">
        <pc:chgData name="SUSAN LUCY PALACIOS SALCEDO" userId="79dcf533be6325ef" providerId="Windows Live" clId="Web-{00000000-0000-0000-0000-000000000000}" dt="2026-09-25T00:08:03.355" v="80"/>
        <pc:sldMkLst>
          <pc:docMk/>
          <pc:sldMk cId="0" sldId="256"/>
        </pc:sldMkLst>
        <pc:spChg chg="del mod">
          <ac:chgData name="SUSAN LUCY PALACIOS SALCEDO" userId="79dcf533be6325ef" providerId="Windows Live" clId="Web-{00000000-0000-0000-0000-000000000000}" dt="2026-09-25T00:07:30.588" v="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USAN LUCY PALACIOS SALCEDO" userId="79dcf533be6325ef" providerId="Windows Live" clId="Web-{00000000-0000-0000-0000-000000000000}" dt="2026-09-25T00:07:31.432" v="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7:04.556" v="7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8:03.355" v="80"/>
          <ac:spMkLst>
            <pc:docMk/>
            <pc:sldMk cId="0" sldId="256"/>
            <ac:spMk id="38" creationId="{00000000-0000-0000-0000-000000000000}"/>
          </ac:spMkLst>
        </pc:spChg>
        <pc:picChg chg="add mod">
          <ac:chgData name="SUSAN LUCY PALACIOS SALCEDO" userId="79dcf533be6325ef" providerId="Windows Live" clId="Web-{00000000-0000-0000-0000-000000000000}" dt="2026-09-25T00:06:27.304" v="62" actId="1076"/>
          <ac:picMkLst>
            <pc:docMk/>
            <pc:sldMk cId="0" sldId="256"/>
            <ac:picMk id="43" creationId="{D895E0D9-A79F-6284-DEEF-6E1E32AB9631}"/>
          </ac:picMkLst>
        </pc:picChg>
        <pc:picChg chg="add del mod">
          <ac:chgData name="SUSAN LUCY PALACIOS SALCEDO" userId="79dcf533be6325ef" providerId="Windows Live" clId="Web-{00000000-0000-0000-0000-000000000000}" dt="2026-09-25T00:05:19.691" v="47"/>
          <ac:picMkLst>
            <pc:docMk/>
            <pc:sldMk cId="0" sldId="256"/>
            <ac:picMk id="44" creationId="{81887B3B-D915-E385-B47E-D81B4E5D4F30}"/>
          </ac:picMkLst>
        </pc:picChg>
        <pc:picChg chg="add mod">
          <ac:chgData name="SUSAN LUCY PALACIOS SALCEDO" userId="79dcf533be6325ef" providerId="Windows Live" clId="Web-{00000000-0000-0000-0000-000000000000}" dt="2026-09-25T00:07:24.463" v="74" actId="1076"/>
          <ac:picMkLst>
            <pc:docMk/>
            <pc:sldMk cId="0" sldId="256"/>
            <ac:picMk id="45" creationId="{6186F5A4-F976-DA4E-86F6-C07234D32654}"/>
          </ac:picMkLst>
        </pc:picChg>
        <pc:picChg chg="del mod">
          <ac:chgData name="SUSAN LUCY PALACIOS SALCEDO" userId="79dcf533be6325ef" providerId="Windows Live" clId="Web-{00000000-0000-0000-0000-000000000000}" dt="2026-09-25T00:07:29.822" v="76"/>
          <ac:picMkLst>
            <pc:docMk/>
            <pc:sldMk cId="0" sldId="256"/>
            <ac:picMk id="49" creationId="{EA073FA5-B7A6-9574-C290-7E7249E38186}"/>
          </ac:picMkLst>
        </pc:picChg>
        <pc:picChg chg="del mod">
          <ac:chgData name="SUSAN LUCY PALACIOS SALCEDO" userId="79dcf533be6325ef" providerId="Windows Live" clId="Web-{00000000-0000-0000-0000-000000000000}" dt="2026-09-25T00:07:32.150" v="79"/>
          <ac:picMkLst>
            <pc:docMk/>
            <pc:sldMk cId="0" sldId="256"/>
            <ac:picMk id="50" creationId="{6B1BD098-CF01-0FAA-97F0-810A3D270A52}"/>
          </ac:picMkLst>
        </pc:picChg>
      </pc:sldChg>
    </pc:docChg>
  </pc:docChgLst>
  <pc:docChgLst>
    <pc:chgData name="SUSAN LUCY PALACIOS SALCEDO" userId="79dcf533be6325ef" providerId="Windows Live" clId="Web-{63B49141-7B4B-0552-5881-E5374556303C}"/>
    <pc:docChg chg="modSld">
      <pc:chgData name="SUSAN LUCY PALACIOS SALCEDO" userId="79dcf533be6325ef" providerId="Windows Live" clId="Web-{63B49141-7B4B-0552-5881-E5374556303C}" dt="2026-09-24T23:50:24.646" v="7"/>
      <pc:docMkLst>
        <pc:docMk/>
      </pc:docMkLst>
      <pc:sldChg chg="addSp delSp modSp">
        <pc:chgData name="SUSAN LUCY PALACIOS SALCEDO" userId="79dcf533be6325ef" providerId="Windows Live" clId="Web-{63B49141-7B4B-0552-5881-E5374556303C}" dt="2026-09-24T23:50:24.646" v="7"/>
        <pc:sldMkLst>
          <pc:docMk/>
          <pc:sldMk cId="0" sldId="256"/>
        </pc:sldMkLst>
        <pc:picChg chg="add del mod">
          <ac:chgData name="SUSAN LUCY PALACIOS SALCEDO" userId="79dcf533be6325ef" providerId="Windows Live" clId="Web-{63B49141-7B4B-0552-5881-E5374556303C}" dt="2026-09-24T23:50:24.646" v="7"/>
          <ac:picMkLst>
            <pc:docMk/>
            <pc:sldMk cId="0" sldId="256"/>
            <ac:picMk id="43" creationId="{D54F7D67-E2EC-CD94-58C7-85BD81DCE0FE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784" cy="4500000"/>
          </a:xfrm>
          <a:prstGeom prst="rect">
            <a:avLst/>
          </a:prstGeom>
          <a:solidFill>
            <a:srgbClr val="4B2A82"/>
          </a:solidFill>
          <a:ln>
            <a:solidFill>
              <a:srgbClr val="4B2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54207" y="689700"/>
            <a:ext cx="19966798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Arial"/>
              </a:rPr>
              <a:t>Workshop on Artificial Intelligence</a:t>
            </a:r>
            <a:r>
              <a:rPr lang="es-PE" sz="4400" b="1" dirty="0">
                <a:solidFill>
                  <a:srgbClr val="FFFFFF"/>
                </a:solidFill>
                <a:latin typeface="Arial"/>
              </a:rPr>
              <a:t> a</a:t>
            </a:r>
            <a:r>
              <a:rPr sz="4400" b="1" dirty="0" err="1">
                <a:solidFill>
                  <a:srgbClr val="FFFFFF"/>
                </a:solidFill>
                <a:latin typeface="Arial"/>
              </a:rPr>
              <a:t>nd</a:t>
            </a:r>
            <a:r>
              <a:rPr sz="4400" b="1" dirty="0">
                <a:solidFill>
                  <a:srgbClr val="FFFFFF"/>
                </a:solidFill>
                <a:latin typeface="Arial"/>
              </a:rPr>
              <a:t> Machine Learning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368000"/>
            <a:ext cx="28116000" cy="14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400" b="1" dirty="0">
                <a:solidFill>
                  <a:srgbClr val="FFFFFF"/>
                </a:solidFill>
                <a:latin typeface="Arial"/>
              </a:rPr>
              <a:t>The Cost of the Prompt: Automatic DINOv3-Derived Prompts for SAM 2.1 Water Segmentation in Sentinel-2 Imagery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880000"/>
            <a:ext cx="28116000" cy="151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800" b="1">
                <a:solidFill>
                  <a:srgbClr val="FFE066"/>
                </a:solidFill>
                <a:latin typeface="Arial"/>
              </a:rPr>
              <a:t>[Author 1 full name]¹  •  [Author 2 full name]¹  •  [Author 3 full name]¹</a:t>
            </a:r>
          </a:p>
          <a:p>
            <a:pPr algn="ctr"/>
            <a:r>
              <a:rPr sz="2000" b="0">
                <a:solidFill>
                  <a:srgbClr val="FFE066"/>
                </a:solidFill>
                <a:latin typeface="Arial"/>
              </a:rPr>
              <a:t>¹[Department / group – confirm], Pontificia Universidad Católica del Perú, Lima, Peru   |   Corresponding author: [e-mail]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39640"/>
            <a:ext cx="28072080" cy="1325880"/>
          </a:xfrm>
          <a:prstGeom prst="roundRect">
            <a:avLst>
              <a:gd name="adj" fmla="val 15000"/>
            </a:avLst>
          </a:prstGeom>
          <a:solidFill>
            <a:srgbClr val="F5F3F9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sz="2200" dirty="0">
                <a:solidFill>
                  <a:srgbClr val="64646E"/>
                </a:solidFill>
                <a:latin typeface="Arial"/>
              </a:rPr>
              <a:t>[PLACE PROJECT / GROUP LOGOS HERE – none supplied]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0000" y="6552000"/>
            <a:ext cx="13752000" cy="666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1080000" y="6552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404000" y="6588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 dirty="0">
                <a:solidFill>
                  <a:srgbClr val="FFFFFF"/>
                </a:solidFill>
                <a:latin typeface="Arial"/>
              </a:rPr>
              <a:t>MOTIVATION &amp; RESEARCH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7524000"/>
            <a:ext cx="12888000" cy="540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Why it matters: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surface-water maps support water monitoring and flood assessment (Pekel et al., 2016; Tellman et al., 2021).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Prompt dependence: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SAM 2 needs clicks, boxes or masks from a person; it has no text prompt. Zero-shot SAM struggled on remote-sensing targets (Li et al., 2024).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Domain gap: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10 m Sentinel-2 chips vs. natural-image/video training of SAM 2 and 0.6 m satellite pretraining of DINOv3 (model card).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Gap: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the cost of replacing simulated human prompts by automatic ones is not measured under event-level shift.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44000" y="6552000"/>
            <a:ext cx="13752000" cy="540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15444000" y="6552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5768000" y="6588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OBJECTIVES /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76000" y="7524000"/>
            <a:ext cx="12888000" cy="414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Research question: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how much water IoU is lost when simulated human prompts (reference-assisted baseline) are replaced by automatic DINOv3-derived prompts for SAM 2.1, and how does that loss change on a geographic event unseen in training?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Contribution: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a controlled measurement; no new prompting method is claimed.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Scope: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surface water (incl. permanent water), not flood-only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0000" y="13788000"/>
            <a:ext cx="13752000" cy="1656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1080000" y="13788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404000" y="13824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20169446"/>
            <a:ext cx="12888000" cy="989055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Data (fact):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Sen1Floods11, 446 hand-labeled Sentinel-2 L1C chips (512×512 px, 10 m, 13 bands). Official split 252/89/90 + 15 Bolivia held out.</a:t>
            </a:r>
          </a:p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Decisions: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tune on validation only; test and Bolivia scored once; leave-Paraguay-out (67 chips) for event-level shift. RGB (B4, B3, B2) with model-specific normalization; invalid pixels ignored.</a:t>
            </a:r>
          </a:p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Reference-assisted baseline: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frozen SAM 2.1 with points sampled from ground-truth labels (not deployable).</a:t>
            </a:r>
          </a:p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Automatic prompts: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frozen DINOv3 ViT-L/16 satellite → water probe (train labels only) → peaks = positive, lows = negative points → SAM 2.1 per component, best predicted-IoU mask, union. Grid branch: class-agnostic masks scored by mean probability.</a:t>
            </a:r>
          </a:p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Core intervention: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fine-tune only the SAM 2.1 mask decoder (BCE + Dice).</a:t>
            </a:r>
          </a:p>
          <a:p>
            <a:pPr marL="402336" indent="-402336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200" b="1" i="0">
                <a:solidFill>
                  <a:srgbClr val="28282D"/>
                </a:solidFill>
                <a:latin typeface="Arial"/>
              </a:rPr>
              <a:t>Ablations: </a:t>
            </a:r>
            <a:r>
              <a:rPr sz="3200" b="0" i="0">
                <a:solidFill>
                  <a:srgbClr val="28282D"/>
                </a:solidFill>
                <a:latin typeface="Arial"/>
              </a:rPr>
              <a:t>A1 prompt source, A2 points k, A3 decoder frozen vs. fine-tuned. H1: DINOv3 points fall between reference and grid; H2: IoU saturates with k; H3: fine-tuning helps seen events more than Bolivia.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444000" y="12528000"/>
            <a:ext cx="13752000" cy="1044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15444000" y="12528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5768000" y="12564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PLANNED EVALUATION (NO RESULTS YET)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76000" y="18178212"/>
            <a:ext cx="12888000" cy="45017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414909" indent="-414909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300" b="1" i="0">
                <a:solidFill>
                  <a:srgbClr val="28282D"/>
                </a:solidFill>
                <a:latin typeface="Arial"/>
              </a:rPr>
              <a:t>Two shifts kept apart: </a:t>
            </a:r>
            <a:r>
              <a:rPr sz="3300" b="0" i="0">
                <a:solidFill>
                  <a:srgbClr val="28282D"/>
                </a:solidFill>
                <a:latin typeface="Arial"/>
              </a:rPr>
              <a:t>natural→satellite (frozen vs. fine-tuned) and geographic (test vs. Bolivia / leave-Paraguay-out).</a:t>
            </a:r>
          </a:p>
          <a:p>
            <a:pPr marL="414909" indent="-414909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300" b="1" i="0">
                <a:solidFill>
                  <a:srgbClr val="28282D"/>
                </a:solidFill>
                <a:latin typeface="Arial"/>
              </a:rPr>
              <a:t>Metrics: </a:t>
            </a:r>
            <a:r>
              <a:rPr sz="3300" b="0" i="0">
                <a:solidFill>
                  <a:srgbClr val="28282D"/>
                </a:solidFill>
                <a:latin typeface="Arial"/>
              </a:rPr>
              <a:t>water IoU (pooled, per-event mean, per-chip median/IQR); precision, recall, Dice; two-class mIoU. Chips without water: excluded from per-chip IoU, false-positive area reported.</a:t>
            </a:r>
          </a:p>
          <a:p>
            <a:pPr marL="414909" indent="-414909">
              <a:lnSpc>
                <a:spcPct val="100000"/>
              </a:lnSpc>
              <a:spcAft>
                <a:spcPts val="300"/>
              </a:spcAft>
              <a:buFont typeface="Arial"/>
              <a:buChar char="•"/>
            </a:pPr>
            <a:r>
              <a:rPr sz="3300" b="1" i="0">
                <a:solidFill>
                  <a:srgbClr val="28282D"/>
                </a:solidFill>
                <a:latin typeface="Arial"/>
              </a:rPr>
              <a:t>Teardown: </a:t>
            </a:r>
            <a:r>
              <a:rPr sz="3300" b="0" i="0">
                <a:solidFill>
                  <a:srgbClr val="28282D"/>
                </a:solidFill>
                <a:latin typeface="Arial"/>
              </a:rPr>
              <a:t>parameters and FLOPs per block; median latency (warm-up, batch 1, synchronized GPU); peak memory.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0000" y="30924000"/>
            <a:ext cx="13752000" cy="432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1080000" y="30924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404000" y="30960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EXPECTED CONTRIBUTIONS &amp; LIMITATIONS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31896000"/>
            <a:ext cx="12888000" cy="306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Expected: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reproducible protocol; SAM 2.1 / DINOv3 teardown; failure analysis under event shift. No gains are promised.</a:t>
            </a:r>
          </a:p>
          <a:p>
            <a:pPr marL="427482" indent="-427482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sz="3400" b="1" i="0">
                <a:solidFill>
                  <a:srgbClr val="28282D"/>
                </a:solidFill>
                <a:latin typeface="Arial"/>
              </a:rPr>
              <a:t>Limits: </a:t>
            </a:r>
            <a:r>
              <a:rPr sz="3400" b="0" i="0">
                <a:solidFill>
                  <a:srgbClr val="28282D"/>
                </a:solidFill>
                <a:latin typeface="Arial"/>
              </a:rPr>
              <a:t>no results yet; RGB drops NIR/SWIR; 15 held-out chips; one seed; no cloud mask in L1C.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44000" y="23544000"/>
            <a:ext cx="13752000" cy="1170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/>
          <p:cNvSpPr/>
          <p:nvPr/>
        </p:nvSpPr>
        <p:spPr>
          <a:xfrm>
            <a:off x="15444000" y="23544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15768000" y="23580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 dirty="0">
                <a:solidFill>
                  <a:srgbClr val="FFFFFF"/>
                </a:solidFill>
                <a:latin typeface="Arial"/>
              </a:rPr>
              <a:t>KEY 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76000" y="24516000"/>
            <a:ext cx="12888000" cy="1044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Bonafilia, D., Tellman, B., Anderson, T., &amp; Issenberg, E. (2020). Sen1Floods11: A georeferenced dataset to train and test deep learning flood algorithms for Sentinel-1. In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2020 IEEE/CVF Conference on Computer Vision and Pattern Recognition Workshops (CVPRW)</a:t>
            </a:r>
            <a:r>
              <a:rPr sz="1800" b="0" i="0">
                <a:solidFill>
                  <a:srgbClr val="28282D"/>
                </a:solidFill>
                <a:latin typeface="Arial"/>
              </a:rPr>
              <a:t> (pp. 835–845). IEEE. https://doi.org/10.1109/CVPRW50498.2020.00113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Drusch, M., Del Bello, U., Carlier, S., Colin, O., Fernandez, V., Gascon, F., Hoersch, B., Isola, C., Laberinti, P., Martimort, P., Meygret, A., Spoto, F., Sy, O., Marchese, F., &amp; Bargellini, P. (2012). Sentinel-2: ESA’s optical high-resolution mission for GMES operational services.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Remote Sensing of Environment, 120</a:t>
            </a:r>
            <a:r>
              <a:rPr sz="1800" b="0" i="0">
                <a:solidFill>
                  <a:srgbClr val="28282D"/>
                </a:solidFill>
                <a:latin typeface="Arial"/>
              </a:rPr>
              <a:t>, 25–36. https://doi.org/10.1016/j.rse.2011.11.026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Kirillov, A., Mintun, E., Ravi, N., Mao, H., Rolland, C., Gustafson, L., Xiao, T., Whitehead, S., Berg, A. C., Lo, W.-Y., Dollár, P., &amp; Girshick, R. (2023). Segment anything. In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2023 IEEE/CVF International Conference on Computer Vision (ICCV)</a:t>
            </a:r>
            <a:r>
              <a:rPr sz="1800" b="0" i="0">
                <a:solidFill>
                  <a:srgbClr val="28282D"/>
                </a:solidFill>
                <a:latin typeface="Arial"/>
              </a:rPr>
              <a:t> (pp. 3992–4003). IEEE. https://doi.org/10.1109/ICCV51070.2023.00371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Li, W., Hsu, C.-Y., Wang, S., Yang, Y., Lee, H., Liljedahl, A., Witharana, C., Yang, Y., Rogers, B. M., Arundel, S. T., Jones, M. B., McHenry, K., &amp; Solis, P. (2024). Segment anything model can not segment anything: Assessing AI foundation model’s generalizability in permafrost mapping.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Remote Sensing, 16</a:t>
            </a:r>
            <a:r>
              <a:rPr sz="1800" b="0" i="0">
                <a:solidFill>
                  <a:srgbClr val="28282D"/>
                </a:solidFill>
                <a:latin typeface="Arial"/>
              </a:rPr>
              <a:t>(5), Article 797. https://doi.org/10.3390/rs16050797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Liu, Y., Zhu, M., Li, H., Chen, H., Wang, X., &amp; Shen, C. (2024). Matcher: Segment anything with one shot using all-purpose feature matching. In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International Conference on Learning Representations (ICLR 2024)</a:t>
            </a:r>
            <a:r>
              <a:rPr sz="1800" b="0" i="0">
                <a:solidFill>
                  <a:srgbClr val="28282D"/>
                </a:solidFill>
                <a:latin typeface="Arial"/>
              </a:rPr>
              <a:t>. https://proceedings.iclr.cc/paper_files/paper/2024/hash/4df9a5e6bad9e64ebcea453e031142bb-Abstract-Conference.html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Ozdemir, S., Akbulut, Z., Karsli, F., &amp; Kavzoglu, T. (2024). Extraction of water bodies from high-resolution aerial and satellite images using visual foundation models.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Sustainability, 16</a:t>
            </a:r>
            <a:r>
              <a:rPr sz="1800" b="0" i="0">
                <a:solidFill>
                  <a:srgbClr val="28282D"/>
                </a:solidFill>
                <a:latin typeface="Arial"/>
              </a:rPr>
              <a:t>(7), Article 2995. https://doi.org/10.3390/su16072995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Pekel, J.-F., Cottam, A., Gorelick, N., &amp; Belward, A. S. (2016). High-resolution mapping of global surface water and its long-term changes.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Nature, 540</a:t>
            </a:r>
            <a:r>
              <a:rPr sz="1800" b="0" i="0">
                <a:solidFill>
                  <a:srgbClr val="28282D"/>
                </a:solidFill>
                <a:latin typeface="Arial"/>
              </a:rPr>
              <a:t>(7633), 418–422. https://doi.org/10.1038/nature20584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Ravi, N., Gabeur, V., Hu, Y.-T., Hu, R., Ryali, C., Ma, T., Khedr, H., Rädle, R., Rolland, C., Gustafson, L., Mintun, E., Pan, J., Alwala, K. V., Carion, N., Wu, C.-Y., Girshick, R., Dollár, P., &amp; Feichtenhofer, C. (2025). SAM 2: Segment anything in images and videos. In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International Conference on Learning Representations (ICLR 2025)</a:t>
            </a:r>
            <a:r>
              <a:rPr sz="1800" b="0" i="0">
                <a:solidFill>
                  <a:srgbClr val="28282D"/>
                </a:solidFill>
                <a:latin typeface="Arial"/>
              </a:rPr>
              <a:t>. https://proceedings.iclr.cc/paper_files/paper/2025/hash/45c1f6a8cbf2da59ebf2c802b4f742cd-Abstract-Conference.html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Tellman, B., Sullivan, J. A., Kuhn, C., Kettner, A. J., Doyle, C. S., Brakenridge, G. R., Erickson, T. A., &amp; Slayback, D. A. (2021). Satellite imaging reveals increased proportion of population exposed to floods.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Nature, 596</a:t>
            </a:r>
            <a:r>
              <a:rPr sz="1800" b="0" i="0">
                <a:solidFill>
                  <a:srgbClr val="28282D"/>
                </a:solidFill>
                <a:latin typeface="Arial"/>
              </a:rPr>
              <a:t>(7870), 80–86. https://doi.org/10.1038/s41586-021-03695-w</a:t>
            </a:r>
          </a:p>
          <a:p>
            <a:pPr marL="365760" indent="-365760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28282D"/>
                </a:solidFill>
                <a:latin typeface="Arial"/>
              </a:rPr>
              <a:t>Zhang, R., Jiang, Z., Guo, Z., Yan, S., Pan, J., Dong, H., Qiao, Y., Gao, P., &amp; Li, H. (2024). Personalize segment anything model with one shot. In </a:t>
            </a:r>
            <a:r>
              <a:rPr sz="1800" b="0" i="1">
                <a:solidFill>
                  <a:srgbClr val="28282D"/>
                </a:solidFill>
                <a:latin typeface="Arial"/>
              </a:rPr>
              <a:t>International Conference on Learning Representations (ICLR 2024)</a:t>
            </a:r>
            <a:r>
              <a:rPr sz="1800" b="0" i="0">
                <a:solidFill>
                  <a:srgbClr val="28282D"/>
                </a:solidFill>
                <a:latin typeface="Arial"/>
              </a:rPr>
              <a:t>. https://proceedings.iclr.cc/paper_files/paper/2024/hash/4f44e5c82dc7b0ba4472083e5dedb08e-Abstract-Conference.html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0000" y="35820000"/>
            <a:ext cx="13752000" cy="396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ectangle 33"/>
          <p:cNvSpPr/>
          <p:nvPr/>
        </p:nvSpPr>
        <p:spPr>
          <a:xfrm>
            <a:off x="1080000" y="35820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1404000" y="35856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 dirty="0">
                <a:solidFill>
                  <a:srgbClr val="FFFFFF"/>
                </a:solidFill>
                <a:latin typeface="Arial"/>
              </a:rPr>
              <a:t>ACKNOWLEDGMENTS / FUNDING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12000" y="36792000"/>
            <a:ext cx="12888000" cy="270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3200" b="0" i="0">
                <a:solidFill>
                  <a:srgbClr val="28282D"/>
                </a:solidFill>
                <a:latin typeface="Arial"/>
              </a:rPr>
              <a:t>Course 1INF52 Deep Learning (2026-2), Pontificia Universidad Católica del Perú. Open models: SAM 2.1 (Meta AI) and DINOv3; dataset: Sen1Floods11.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3200" b="0" i="0">
                <a:solidFill>
                  <a:srgbClr val="28282D"/>
                </a:solidFill>
                <a:latin typeface="Arial"/>
              </a:rPr>
              <a:t>Compute resources: </a:t>
            </a:r>
            <a:r>
              <a:rPr sz="3200" b="1" i="0">
                <a:solidFill>
                  <a:srgbClr val="B5451B"/>
                </a:solidFill>
                <a:latin typeface="Arial"/>
              </a:rPr>
              <a:t>[to complete]</a:t>
            </a:r>
            <a:r>
              <a:rPr sz="3200" b="0" i="0">
                <a:solidFill>
                  <a:srgbClr val="28282D"/>
                </a:solidFill>
                <a:latin typeface="Arial"/>
              </a:rPr>
              <a:t>   Funding: </a:t>
            </a:r>
            <a:r>
              <a:rPr sz="3200" b="1" i="0">
                <a:solidFill>
                  <a:srgbClr val="B5451B"/>
                </a:solidFill>
                <a:latin typeface="Arial"/>
              </a:rPr>
              <a:t>[to complete]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444000" y="35820000"/>
            <a:ext cx="13752000" cy="3960000"/>
          </a:xfrm>
          <a:prstGeom prst="roundRect">
            <a:avLst>
              <a:gd name="adj" fmla="val 2500"/>
            </a:avLst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ectangle 37"/>
          <p:cNvSpPr/>
          <p:nvPr/>
        </p:nvSpPr>
        <p:spPr>
          <a:xfrm>
            <a:off x="15444000" y="35820000"/>
            <a:ext cx="13752000" cy="7920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15768000" y="35856000"/>
            <a:ext cx="13104000" cy="720000"/>
          </a:xfrm>
          <a:prstGeom prst="rect">
            <a:avLst/>
          </a:prstGeom>
          <a:noFill/>
        </p:spPr>
        <p:txBody>
          <a:bodyPr wrap="square" lIns="0" tIns="0" bIns="0" anchor="ctr">
            <a:no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CONTINUE THE CONVERSATION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56000" y="36792000"/>
            <a:ext cx="10008000" cy="270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200" b="0" i="0">
                <a:solidFill>
                  <a:srgbClr val="28282D"/>
                </a:solidFill>
                <a:latin typeface="Arial"/>
              </a:rPr>
              <a:t>Repository: </a:t>
            </a:r>
            <a:r>
              <a:rPr sz="3200" b="1" i="0">
                <a:solidFill>
                  <a:srgbClr val="B5451B"/>
                </a:solidFill>
                <a:latin typeface="Arial"/>
              </a:rPr>
              <a:t>[not yet created]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200" b="0" i="0">
                <a:solidFill>
                  <a:srgbClr val="28282D"/>
                </a:solidFill>
                <a:latin typeface="Arial"/>
              </a:rPr>
              <a:t>Contact: </a:t>
            </a:r>
            <a:r>
              <a:rPr sz="3200" b="1" i="0">
                <a:solidFill>
                  <a:srgbClr val="B5451B"/>
                </a:solidFill>
                <a:latin typeface="Arial"/>
              </a:rPr>
              <a:t>[corresponding author e-mail]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40405050"/>
            <a:ext cx="28072080" cy="1800000"/>
          </a:xfrm>
          <a:prstGeom prst="roundRect">
            <a:avLst>
              <a:gd name="adj" fmla="val 20000"/>
            </a:avLst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s-PE" sz="2500" b="1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BRING YOUR RESEARCH. SHARE YOUR IDEAS. JOIN THE CONVERSATION.</a:t>
            </a:r>
          </a:p>
          <a:p>
            <a:pPr algn="ctr"/>
            <a:r>
              <a:rPr sz="2000" dirty="0" err="1">
                <a:solidFill>
                  <a:srgbClr val="FFFFFF"/>
                </a:solidFill>
                <a:latin typeface="Arial"/>
              </a:rPr>
              <a:t>WAIMLAp</a:t>
            </a:r>
            <a:r>
              <a:rPr sz="2000" dirty="0">
                <a:solidFill>
                  <a:srgbClr val="FFFFFF"/>
                </a:solidFill>
                <a:latin typeface="Arial"/>
              </a:rPr>
              <a:t> 2026  •  November 18–20, 2026  •  Lima, Peru  •  waimlap.org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895E0D9-A79F-6284-DEEF-6E1E32AB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786" y="329537"/>
            <a:ext cx="3952394" cy="168841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186F5A4-F976-DA4E-86F6-C07234D32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39" y="730916"/>
            <a:ext cx="3386394" cy="1012014"/>
          </a:xfrm>
          <a:prstGeom prst="rect">
            <a:avLst/>
          </a:prstGeom>
        </p:spPr>
      </p:pic>
      <p:pic>
        <p:nvPicPr>
          <p:cNvPr id="46" name="Picture 45" descr="fig_workflow_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000" y="14760000"/>
            <a:ext cx="12888000" cy="5301447"/>
          </a:xfrm>
          <a:prstGeom prst="rect">
            <a:avLst/>
          </a:prstGeom>
        </p:spPr>
      </p:pic>
      <p:pic>
        <p:nvPicPr>
          <p:cNvPr id="47" name="Picture 46" descr="fig_splits_po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6000" y="13500000"/>
            <a:ext cx="12888000" cy="4570213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5876000" y="36792000"/>
            <a:ext cx="2520000" cy="2520000"/>
          </a:xfrm>
          <a:prstGeom prst="rect">
            <a:avLst/>
          </a:prstGeom>
          <a:noFill/>
          <a:ln w="31750">
            <a:solidFill>
              <a:srgbClr val="B5451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B5451B"/>
                </a:solidFill>
                <a:latin typeface="Arial"/>
              </a:rPr>
              <a:t>[QR CODE – add repository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410</Words>
  <Application>Microsoft Office PowerPoint</Application>
  <PresentationFormat>Personalizado</PresentationFormat>
  <Paragraphs>25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Cost of the Prompt (WAIMLAp 2026 poster)</dc:title>
  <dc:subject/>
  <dc:creator/>
  <cp:keywords/>
  <dc:description>generated using python-pptx</dc:description>
  <cp:lastModifiedBy/>
  <cp:revision>51</cp:revision>
  <dcterms:created xsi:type="dcterms:W3CDTF">2013-01-27T09:14:16Z</dcterms:created>
  <dcterms:modified xsi:type="dcterms:W3CDTF">2026-09-25T23:21:07Z</dcterms:modified>
  <cp:category/>
</cp:coreProperties>
</file>