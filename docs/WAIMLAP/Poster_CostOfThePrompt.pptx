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6140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368000"/>
            <a:ext cx="28116000" cy="14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Arial"/>
              </a:rPr>
              <a:t>The Cost of the Prompt: Automatic DINOv3-Derived Prompts for SAM 2.1 Water Segmentation in Sentinel-2 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880000"/>
            <a:ext cx="28116000" cy="151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 dirty="0">
                <a:solidFill>
                  <a:srgbClr val="FFE066"/>
                </a:solidFill>
                <a:latin typeface="Arial"/>
              </a:rPr>
              <a:t>[</a:t>
            </a:r>
            <a:r>
              <a:rPr lang="en-US" sz="2800" b="1" dirty="0">
                <a:solidFill>
                  <a:srgbClr val="FFE066"/>
                </a:solidFill>
                <a:latin typeface="Arial"/>
              </a:rPr>
              <a:t>VILLARREAL QUISPE, ELIEZER GUIDO</a:t>
            </a:r>
            <a:r>
              <a:rPr sz="2800" b="1" dirty="0">
                <a:solidFill>
                  <a:srgbClr val="FFE066"/>
                </a:solidFill>
                <a:latin typeface="Arial"/>
              </a:rPr>
              <a:t>]¹  •  [</a:t>
            </a:r>
            <a:r>
              <a:rPr lang="en-US" sz="2800" b="1" dirty="0">
                <a:solidFill>
                  <a:srgbClr val="FFE066"/>
                </a:solidFill>
                <a:latin typeface="Arial"/>
              </a:rPr>
              <a:t>CHAVEZ JAVIER, ROBERTO ABEL</a:t>
            </a:r>
            <a:r>
              <a:rPr sz="2800" b="1">
                <a:solidFill>
                  <a:srgbClr val="FFE066"/>
                </a:solidFill>
                <a:latin typeface="Arial"/>
              </a:rPr>
              <a:t>]¹</a:t>
            </a:r>
            <a:endParaRPr sz="2800" b="1" dirty="0">
              <a:solidFill>
                <a:srgbClr val="FFE066"/>
              </a:solidFill>
              <a:latin typeface="Arial"/>
            </a:endParaRPr>
          </a:p>
          <a:p>
            <a:pPr algn="ctr"/>
            <a:r>
              <a:rPr sz="2000" b="0" dirty="0">
                <a:solidFill>
                  <a:srgbClr val="FFE066"/>
                </a:solidFill>
                <a:latin typeface="Arial"/>
              </a:rPr>
              <a:t>¹[Department / group – confirm], Pontificia Universidad </a:t>
            </a:r>
            <a:r>
              <a:rPr sz="2000" b="0" dirty="0" err="1">
                <a:solidFill>
                  <a:srgbClr val="FFE066"/>
                </a:solidFill>
                <a:latin typeface="Arial"/>
              </a:rPr>
              <a:t>Católica</a:t>
            </a:r>
            <a:r>
              <a:rPr sz="2000" b="0" dirty="0">
                <a:solidFill>
                  <a:srgbClr val="FFE066"/>
                </a:solidFill>
                <a:latin typeface="Arial"/>
              </a:rPr>
              <a:t> del Perú, Lima, Peru   |   Corresponding author: [e-mail]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>
              <a:gd name="adj" fmla="val 15000"/>
            </a:avLst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200" dirty="0">
                <a:solidFill>
                  <a:srgbClr val="64646E"/>
                </a:solidFill>
                <a:latin typeface="Arial"/>
              </a:rPr>
              <a:t>[PLACE PROJECT / GROUP LOGOS HERE – none supplied]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0000" y="6552000"/>
            <a:ext cx="13752000" cy="66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80000" y="6552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04000" y="6588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7524000"/>
            <a:ext cx="12888000" cy="54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Why it matters: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surface-water maps support water monitoring and flood assessment (Pekel et al., 2016; Tellman et al., 2021).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Prompt dependence: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SAM 2 needs clicks, boxes or masks from a person; it has no text prompt. Zero-shot SAM struggled on remote-sensing targets (Li et al., 2024).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Domain gap: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10 m Sentinel-2 chips vs. natural-image/video training of SAM 2 and 0.6 m satellite pretraining of DINOv3 (model card).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Gap: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the cost of replacing simulated human prompts by automatic ones is not measured under event-level shift.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44000" y="6552000"/>
            <a:ext cx="13752000" cy="540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44000" y="6552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68000" y="6588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76000" y="7524000"/>
            <a:ext cx="12888000" cy="41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Research question: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how much water IoU is lost when simulated human prompts (reference-assisted baseline) are replaced by automatic DINOv3-derived prompts for SAM 2.1, and how does that loss change on a geographic event unseen in training?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Contribution: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a controlled measurement; no new prompting method is claimed.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Scope: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surface water (incl. permanent water), not flood-only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13788000"/>
            <a:ext cx="13752000" cy="165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1080000" y="13788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04000" y="13824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0169446"/>
            <a:ext cx="12888000" cy="9890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Data (fact):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Sen1Floods11, 446 hand-labeled Sentinel-2 L1C chips (512×512 px, 10 m, 13 bands). Official split 252/89/90 + 15 Bolivia held out.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Decisions: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tune on validation only; test and Bolivia scored once; leave-Paraguay-out (67 chips) for event-level shift. RGB (B4, B3, B2) with model-specific normalization; invalid pixels ignored.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Reference-assisted baseline: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frozen SAM 2.1 with points sampled from ground-truth labels (not deployable).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Automatic prompts: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frozen DINOv3 ViT-L/16 satellite → water probe (train labels only) → peaks = positive, lows = negative points → SAM 2.1 per component, best predicted-IoU mask, union. Grid branch: class-agnostic masks scored by mean probability.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Core intervention: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fine-tune only the SAM 2.1 mask decoder (BCE + Dice).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Ablations: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A1 prompt source, A2 points k, A3 decoder frozen vs. fine-tuned. H1: DINOv3 points fall between reference and grid; H2: IoU saturates with k; H3: fine-tuning helps seen events more than Bolivia.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44000" y="12528000"/>
            <a:ext cx="13752000" cy="1044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15444000" y="12528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68000" y="12564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PLANNED EVALUATION (NO RESULTS YET)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76000" y="18178212"/>
            <a:ext cx="12888000" cy="45017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Two shifts kept apart: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natural→satellite (frozen vs. fine-tuned) and geographic (test vs. Bolivia / leave-Paraguay-out).</a:t>
            </a:r>
          </a:p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Metrics: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water IoU (pooled, per-event mean, per-chip median/IQR); precision, recall, Dice; two-class mIoU. Chips without water: excluded from per-chip IoU, false-positive area reported.</a:t>
            </a:r>
          </a:p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Teardown: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parameters and FLOPs per block; median latency (warm-up, batch 1, synchronized GPU); peak memory.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0000" y="30924000"/>
            <a:ext cx="13752000" cy="432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80000" y="30924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04000" y="30960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EXPECTED CONTRIBUTIONS &amp; 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31896000"/>
            <a:ext cx="12888000" cy="30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Expected: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reproducible protocol; SAM 2.1 / DINOv3 teardown; failure analysis under event shift. No gains are promised.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Limits: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no results yet; RGB drops NIR/SWIR; 15 held-out chips; one seed; no cloud mask in L1C.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44000" y="23544000"/>
            <a:ext cx="13752000" cy="1170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44000" y="23544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68000" y="23580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76000" y="24516000"/>
            <a:ext cx="12888000" cy="104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Bonafilia, D., Tellman, B., Anderson, T., &amp; Issenberg, E. (2020). Sen1Floods11: A georeferenced dataset to train and test deep learning flood algorithms for Sentinel-1.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2020 IEEE/CVF Conference on Computer Vision and Pattern Recognition Workshops (CVPRW)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 (pp. 835–845). IEEE. https://doi.org/10.1109/CVPRW50498.2020.00113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Drusch, M., Del Bello, U., Carlier, S., Colin, O., Fernandez, V., Gascon, F., Hoersch, B., Isola, C., Laberinti, P., Martimort, P., Meygret, A., Spoto, F., Sy, O., Marchese, F., &amp; Bargellini, P. (2012). Sentinel-2: ESA’s optical high-resolution mission for GMES operational services.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Remote Sensing of Environment, 120</a:t>
            </a:r>
            <a:r>
              <a:rPr sz="1800" b="0" i="0">
                <a:solidFill>
                  <a:srgbClr val="28282D"/>
                </a:solidFill>
                <a:latin typeface="Arial"/>
              </a:rPr>
              <a:t>, 25–36. https://doi.org/10.1016/j.rse.2011.11.026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Kirillov, A., Mintun, E., Ravi, N., Mao, H., Rolland, C., Gustafson, L., Xiao, T., Whitehead, S., Berg, A. C., Lo, W.-Y., Dollár, P., &amp; Girshick, R. (2023). Segment anything.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2023 IEEE/CVF International Conference on Computer Vision (ICCV)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 (pp. 3992–4003). IEEE. https://doi.org/10.1109/ICCV51070.2023.00371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Li, W., Hsu, C.-Y., Wang, S., Yang, Y., Lee, H., Liljedahl, A., Witharana, C., Yang, Y., Rogers, B. M., Arundel, S. T., Jones, M. B., McHenry, K., &amp; Solis, P. (2024). Segment anything model can not segment anything: Assessing AI foundation model’s generalizability in permafrost mapping.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Remote Sensing, 16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(5), Article 797. https://doi.org/10.3390/rs16050797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Liu, Y., Zhu, M., Li, H., Chen, H., Wang, X., &amp; Shen, C. (2024). Matcher: Segment anything with one shot using all-purpose feature matching.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2024)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https://proceedings.iclr.cc/paper_files/paper/2024/hash/4df9a5e6bad9e64ebcea453e031142bb-Abstract-Conference.html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Ozdemir, S., Akbulut, Z., Karsli, F., &amp; Kavzoglu, T. (2024). Extraction of water bodies from high-resolution aerial and satellite images using visual foundation models.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Sustainability, 16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(7), Article 2995. https://doi.org/10.3390/su16072995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Pekel, J.-F., Cottam, A., Gorelick, N., &amp; Belward, A. S. (2016). High-resolution mapping of global surface water and its long-term changes.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Nature, 540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(7633), 418–422. https://doi.org/10.1038/nature20584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Ravi, N., Gabeur, V., Hu, Y.-T., Hu, R., Ryali, C., Ma, T., Khedr, H., Rädle, R., Rolland, C., Gustafson, L., Mintun, E., Pan, J., Alwala, K. V., Carion, N., Wu, C.-Y., Girshick, R., Dollár, P., &amp; Feichtenhofer, C. (2025). SAM 2: Segment anything in images and videos.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2025)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https://proceedings.iclr.cc/paper_files/paper/2025/hash/45c1f6a8cbf2da59ebf2c802b4f742cd-Abstract-Conference.html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Tellman, B., Sullivan, J. A., Kuhn, C., Kettner, A. J., Doyle, C. S., Brakenridge, G. R., Erickson, T. A., &amp; Slayback, D. A. (2021). Satellite imaging reveals increased proportion of population exposed to floods.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Nature, 596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(7870), 80–86. https://doi.org/10.1038/s41586-021-03695-w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Zhang, R., Jiang, Z., Guo, Z., Yan, S., Pan, J., Dong, H., Qiao, Y., Gao, P., &amp; Li, H. (2024). Personalize segment anything model with one shot.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2024)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https://proceedings.iclr.cc/paper_files/paper/2024/hash/4f44e5c82dc7b0ba4472083e5dedb08e-Abstract-Conference.html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000" y="35820000"/>
            <a:ext cx="13752000" cy="39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80000" y="35820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04000" y="35856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2000" y="36792000"/>
            <a:ext cx="12888000" cy="27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Course 1INF52 Deep Learning (2026-2), Pontificia Universidad Católica del Perú. Open models: SAM 2.1 (Meta AI) and DINOv3; dataset: Sen1Floods11.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Compute resources: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[to complete]</a:t>
            </a:r>
            <a:r>
              <a:rPr sz="3200" b="0" i="0">
                <a:solidFill>
                  <a:srgbClr val="28282D"/>
                </a:solidFill>
                <a:latin typeface="Arial"/>
              </a:rPr>
              <a:t>   Funding: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[to complete]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44000" y="35820000"/>
            <a:ext cx="13752000" cy="39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44000" y="35820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68000" y="35856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56000" y="36792000"/>
            <a:ext cx="10008000" cy="27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Repository: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[not yet created]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Contact: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[corresponding author e-mail]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>
              <a:gd name="adj" fmla="val 20000"/>
            </a:avLst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  <p:pic>
        <p:nvPicPr>
          <p:cNvPr id="46" name="Picture 45" descr="fig_workflow_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14760000"/>
            <a:ext cx="12888000" cy="5301447"/>
          </a:xfrm>
          <a:prstGeom prst="rect">
            <a:avLst/>
          </a:prstGeom>
        </p:spPr>
      </p:pic>
      <p:pic>
        <p:nvPicPr>
          <p:cNvPr id="47" name="Picture 46" descr="fig_splits_po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6000" y="13500000"/>
            <a:ext cx="12888000" cy="457021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5876000" y="36792000"/>
            <a:ext cx="2520000" cy="2520000"/>
          </a:xfrm>
          <a:prstGeom prst="rect">
            <a:avLst/>
          </a:prstGeom>
          <a:noFill/>
          <a:ln w="31750">
            <a:solidFill>
              <a:srgbClr val="B5451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B5451B"/>
                </a:solidFill>
                <a:latin typeface="Arial"/>
              </a:rPr>
              <a:t>[QR CODE – add repository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1490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 of the Prompt (WAIMLAp 2026 poster)</dc:title>
  <dc:subject/>
  <dc:creator/>
  <cp:keywords/>
  <dc:description>generated using python-pptx</dc:description>
  <cp:lastModifiedBy>Roberto Chavez</cp:lastModifiedBy>
  <cp:revision>53</cp:revision>
  <dcterms:created xsi:type="dcterms:W3CDTF">2013-01-27T09:14:16Z</dcterms:created>
  <dcterms:modified xsi:type="dcterms:W3CDTF">2026-10-28T15:45:16Z</dcterms:modified>
  <cp:category/>
</cp:coreProperties>
</file>